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273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digital_illustration_abs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85800" y="20574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Distributed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Simulator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13232" y="3429000"/>
            <a:ext cx="1920240" cy="0"/>
          </a:xfrm>
          <a:prstGeom prst="line">
            <a:avLst/>
          </a:prstGeom>
          <a:noFill/>
          <a:ln w="635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31520" y="3794759"/>
            <a:ext cx="5212080" cy="277856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Team 14-LLM Study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Mauli Pandya-035134097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</a:rPr>
              <a:t>Karthik Kumar Reddy Bobbala-033694360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E8B57"/>
                </a:solidFill>
              </a:rPr>
              <a:t>How can we simulate real-world distributed systems when they are dynamic and unpredictable?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075687"/>
            <a:ext cx="5303520" cy="4398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defRPr sz="2200"/>
            </a:pPr>
            <a:r>
              <a:rPr sz="2000" dirty="0"/>
              <a:t>How can we simulate real-world distributed systems?</a:t>
            </a:r>
          </a:p>
          <a:p>
            <a:pPr>
              <a:defRPr sz="1800"/>
            </a:pPr>
            <a:r>
              <a:rPr sz="2000" dirty="0"/>
              <a:t>• Systems are dynamic</a:t>
            </a:r>
          </a:p>
          <a:p>
            <a:pPr>
              <a:defRPr sz="1800"/>
            </a:pPr>
            <a:r>
              <a:rPr sz="2000" dirty="0"/>
              <a:t>• Workloads are bursty</a:t>
            </a:r>
          </a:p>
          <a:p>
            <a:pPr>
              <a:defRPr sz="1800"/>
            </a:pPr>
            <a:r>
              <a:rPr sz="2000" dirty="0"/>
              <a:t>• Failures are complex</a:t>
            </a:r>
          </a:p>
          <a:p>
            <a:pPr>
              <a:defRPr sz="1800"/>
            </a:pPr>
            <a:r>
              <a:rPr sz="2000" dirty="0"/>
              <a:t>• Testing is costly</a:t>
            </a:r>
          </a:p>
          <a:p>
            <a:pPr>
              <a:defRPr sz="1800"/>
            </a:pPr>
            <a:endParaRPr lang="en-IN" dirty="0"/>
          </a:p>
          <a:p>
            <a:pPr algn="ctr">
              <a:defRPr sz="1800"/>
            </a:pPr>
            <a:endParaRPr lang="en-IN" dirty="0"/>
          </a:p>
          <a:p>
            <a:pPr algn="ctr">
              <a:defRPr sz="1800"/>
            </a:pPr>
            <a:endParaRPr lang="en-IN" dirty="0"/>
          </a:p>
          <a:p>
            <a:pPr algn="ctr">
              <a:defRPr sz="1800"/>
            </a:pPr>
            <a:r>
              <a:rPr dirty="0"/>
              <a:t> </a:t>
            </a:r>
            <a:r>
              <a:rPr b="1" dirty="0"/>
              <a:t>Need adaptive simulation</a:t>
            </a:r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4206240" cy="502920"/>
          </a:xfrm>
          <a:prstGeom prst="roundRect">
            <a:avLst/>
          </a:prstGeom>
          <a:solidFill>
            <a:srgbClr val="1F3A5F"/>
          </a:solidFill>
          <a:ln w="13970">
            <a:solidFill>
              <a:srgbClr val="1F3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REAL SYSTEMS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1234440" cy="91440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DE6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</a:rPr>
              <a:t>Expensive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65008" y="2743200"/>
            <a:ext cx="1234440" cy="91440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DE6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</a:rPr>
              <a:t>Risky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546336" y="2743200"/>
            <a:ext cx="1234440" cy="91440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DE6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</a:rPr>
              <a:t>Hard to scale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0" y="4617720"/>
            <a:ext cx="3383280" cy="59436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realistic enough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686800" y="3703320"/>
            <a:ext cx="0" cy="77724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Why are traditional simulators not enough?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93776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defRPr sz="2200"/>
            </a:pPr>
            <a:r>
              <a:rPr dirty="0"/>
              <a:t>Why are traditional simulators not enough?</a:t>
            </a:r>
          </a:p>
          <a:p>
            <a:pPr>
              <a:defRPr sz="1800"/>
            </a:pPr>
            <a:r>
              <a:rPr dirty="0"/>
              <a:t>• Fixed rules</a:t>
            </a:r>
          </a:p>
          <a:p>
            <a:pPr>
              <a:defRPr sz="1800"/>
            </a:pPr>
            <a:r>
              <a:rPr dirty="0"/>
              <a:t>• No adaptability</a:t>
            </a:r>
          </a:p>
          <a:p>
            <a:pPr>
              <a:defRPr sz="1800"/>
            </a:pPr>
            <a:r>
              <a:rPr dirty="0"/>
              <a:t>• No context-awareness</a:t>
            </a:r>
          </a:p>
          <a:p>
            <a:pPr>
              <a:defRPr sz="1800"/>
            </a:pPr>
            <a:r>
              <a:rPr dirty="0"/>
              <a:t>• Fail in real scenarios</a:t>
            </a:r>
          </a:p>
          <a:p>
            <a:pPr>
              <a:defRPr sz="1800"/>
            </a:pPr>
            <a:endParaRPr lang="en-IN" dirty="0"/>
          </a:p>
          <a:p>
            <a:pPr algn="ctr">
              <a:defRPr sz="1800"/>
            </a:pPr>
            <a:endParaRPr lang="en-IN" dirty="0"/>
          </a:p>
          <a:p>
            <a:pPr algn="ctr">
              <a:defRPr sz="1800"/>
            </a:pPr>
            <a:r>
              <a:rPr dirty="0"/>
              <a:t> </a:t>
            </a:r>
            <a:r>
              <a:rPr b="1" dirty="0"/>
              <a:t>Static ≠ real systems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5349240"/>
            <a:ext cx="4572000" cy="594360"/>
          </a:xfrm>
          <a:prstGeom prst="roundRect">
            <a:avLst/>
          </a:prstGeom>
          <a:solidFill>
            <a:srgbClr val="EAF6EF"/>
          </a:solidFill>
          <a:ln>
            <a:solidFill>
              <a:srgbClr val="EAF6EF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smarter approach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4389120" cy="4114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</a:rPr>
              <a:t>Static rules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20840" y="2743200"/>
            <a:ext cx="365760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46520" y="3337560"/>
            <a:ext cx="4389120" cy="41148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B57"/>
                </a:solidFill>
              </a:rPr>
              <a:t>Dynamic reality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720840" y="4800600"/>
            <a:ext cx="502920" cy="18288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223760" y="4983480"/>
            <a:ext cx="502920" cy="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26680" y="4617720"/>
            <a:ext cx="502920" cy="27432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0" y="4892040"/>
            <a:ext cx="502920" cy="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732520" y="4251960"/>
            <a:ext cx="502920" cy="68580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235440" y="4937760"/>
            <a:ext cx="502920" cy="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738360" y="4434840"/>
            <a:ext cx="502920" cy="41148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46520" y="56692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</a:rPr>
              <a:t>Bursty, adaptive, context-aware behavior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297680" cy="64008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Build a hybrid simulator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3383280" cy="91440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Deterministic engine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(event-driven execution)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898648"/>
            <a:ext cx="45720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B57"/>
                </a:solidFill>
              </a:rPr>
              <a:t>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383280" cy="91440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LLM reasoning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(bounded layer)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3200400"/>
            <a:ext cx="82296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8915400" y="2423160"/>
            <a:ext cx="23774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Workload generation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Failure modeling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analysis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4956048"/>
            <a:ext cx="10104120" cy="758952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>
              <a:defRPr sz="2200"/>
            </a:pPr>
            <a:r>
              <a:rPr dirty="0"/>
              <a:t>How do we improve simulation?</a:t>
            </a:r>
          </a:p>
          <a:p>
            <a:pPr>
              <a:defRPr sz="1800"/>
            </a:pPr>
            <a:r>
              <a:rPr dirty="0"/>
              <a:t>• Hybrid approach</a:t>
            </a:r>
          </a:p>
          <a:p>
            <a:pPr>
              <a:defRPr sz="1800"/>
            </a:pPr>
            <a:r>
              <a:rPr dirty="0"/>
              <a:t>• Deterministic = control</a:t>
            </a:r>
          </a:p>
          <a:p>
            <a:pPr>
              <a:defRPr sz="1800"/>
            </a:pPr>
            <a:r>
              <a:rPr dirty="0"/>
              <a:t>• LLM = reasoning</a:t>
            </a:r>
          </a:p>
          <a:p>
            <a:pPr>
              <a:defRPr sz="1800"/>
            </a:pPr>
            <a:r>
              <a:rPr dirty="0"/>
              <a:t>• Used for workloads, failures</a:t>
            </a:r>
          </a:p>
          <a:p>
            <a:pPr algn="ctr">
              <a:defRPr sz="1800"/>
            </a:pPr>
            <a:r>
              <a:rPr b="1" dirty="0"/>
              <a:t>Balance realism +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700943"/>
            <a:ext cx="329184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Hybrid simulation framework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Combines deterministic execution with LLM-assisted reasoning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82112"/>
            <a:ext cx="3291840" cy="86868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LLM-based modules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Workload generation, failure modeling, semantic log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850892"/>
            <a:ext cx="329184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Modular architecture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Agents and bounded reasoning layer improve control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1700943"/>
            <a:ext cx="3291840" cy="86868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Performance trade-off analysis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Latency, throughput, utilization, recovery and LLM overhead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3131820"/>
            <a:ext cx="329184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Reproducible via GitHub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</a:rPr>
              <a:t>Scripts, results, plots and implementation artifacts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69458" y="2267713"/>
            <a:ext cx="24688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GitHub pipeline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scripts → results → plots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defRPr sz="2200"/>
            </a:pPr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960119"/>
            <a:ext cx="10515600" cy="685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931920" cy="68580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Deterministic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393192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333333"/>
                </a:solidFill>
              </a:rPr>
              <a:t>Stable &amp; repeatable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32320" y="1828800"/>
            <a:ext cx="3931920" cy="68580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LLM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32320" y="2743200"/>
            <a:ext cx="393192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333333"/>
                </a:solidFill>
              </a:rPr>
              <a:t>Adaptive &amp; intelligent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66360" y="2788920"/>
            <a:ext cx="1828800" cy="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995160" y="3520440"/>
            <a:ext cx="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889819" y="5472685"/>
            <a:ext cx="6080760" cy="68580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= control + flexibility</a:t>
            </a:r>
            <a:endParaRPr lang="en-US" sz="2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298239-C7B4-6B18-FB93-A7DC0651324D}"/>
              </a:ext>
            </a:extLst>
          </p:cNvPr>
          <p:cNvSpPr/>
          <p:nvPr/>
        </p:nvSpPr>
        <p:spPr>
          <a:xfrm>
            <a:off x="1716657" y="4097547"/>
            <a:ext cx="8177841" cy="1069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Traditional simulators provide control and repeatability, while LLMs introduce adaptability and context-awareness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5436FD-6803-3245-63E6-39414BC413D5}"/>
              </a:ext>
            </a:extLst>
          </p:cNvPr>
          <p:cNvSpPr/>
          <p:nvPr/>
        </p:nvSpPr>
        <p:spPr>
          <a:xfrm>
            <a:off x="594359" y="210311"/>
            <a:ext cx="11473995" cy="885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Why combine rules with LLM?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Deterministic simulation core with bounded LLM reasoning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34640" y="3154680"/>
            <a:ext cx="192024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60920" y="3154680"/>
            <a:ext cx="192024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80760" y="2331720"/>
            <a:ext cx="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080760" y="4069080"/>
            <a:ext cx="0" cy="50292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43400" y="2560320"/>
            <a:ext cx="3474720" cy="1143000"/>
          </a:xfrm>
          <a:prstGeom prst="roundRect">
            <a:avLst/>
          </a:prstGeom>
          <a:solidFill>
            <a:srgbClr val="1F3A5F"/>
          </a:solidFill>
          <a:ln w="13970">
            <a:solidFill>
              <a:srgbClr val="1F3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Simulation Engine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Deterministic event scheduling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1920240" cy="82296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Cluster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Manager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72600" y="2743200"/>
            <a:ext cx="1920240" cy="82296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Network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1417320"/>
            <a:ext cx="2560320" cy="68580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Workload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Generator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4251960"/>
            <a:ext cx="2560320" cy="68580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Failure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Injection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74520" y="5349240"/>
            <a:ext cx="32918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LLM Module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Bounded reasoning +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5349240"/>
            <a:ext cx="329184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Log Analyzer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</a:rPr>
              <a:t>Anomalies + root cause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3218688"/>
            <a:ext cx="73152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0" y="3218688"/>
            <a:ext cx="73152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760720" y="3218688"/>
            <a:ext cx="73152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680960" y="3218688"/>
            <a:ext cx="73152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601200" y="3218688"/>
            <a:ext cx="73152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52728" y="2331720"/>
            <a:ext cx="502920" cy="4114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150876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A5F"/>
                </a:solidFill>
              </a:rPr>
              <a:t>Generate workload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172968" y="2331720"/>
            <a:ext cx="502920" cy="4114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2788920"/>
            <a:ext cx="150876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A5F"/>
                </a:solidFill>
              </a:rPr>
              <a:t>Inject failures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93208" y="2331720"/>
            <a:ext cx="502920" cy="4114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788920"/>
            <a:ext cx="150876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A5F"/>
                </a:solidFill>
              </a:rPr>
              <a:t>Run simulation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13448" y="2331720"/>
            <a:ext cx="502920" cy="4114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2788920"/>
            <a:ext cx="150876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A5F"/>
                </a:solidFill>
              </a:rPr>
              <a:t>Collect logs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933688" y="2331720"/>
            <a:ext cx="502920" cy="411480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2788920"/>
            <a:ext cx="1508760" cy="86868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8B57"/>
                </a:solidFill>
              </a:rPr>
              <a:t>Analyze using LLM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671048" y="2331720"/>
            <a:ext cx="502920" cy="4114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95560" y="2788920"/>
            <a:ext cx="1508760" cy="86868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A5F"/>
                </a:solidFill>
              </a:rPr>
              <a:t>Output metrics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645920" y="5559552"/>
            <a:ext cx="8961120" cy="658368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adds reasoning only at high-value points — workloads, failures, and logs</a:t>
            </a:r>
            <a:endParaRPr lang="en-US" sz="2200" dirty="0"/>
          </a:p>
        </p:txBody>
      </p:sp>
      <p:sp>
        <p:nvSpPr>
          <p:cNvPr id="25" name="TextBox 24"/>
          <p:cNvSpPr txBox="1"/>
          <p:nvPr/>
        </p:nvSpPr>
        <p:spPr>
          <a:xfrm>
            <a:off x="640080" y="4833604"/>
            <a:ext cx="1014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LLM is applied only at key decision points to enhance realism without affecting deterministic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Generation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417319"/>
            <a:ext cx="4663440" cy="868679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</a:rPr>
              <a:t>Traditional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43891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Predictable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distributions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1417319"/>
            <a:ext cx="4663440" cy="868677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</a:rPr>
              <a:t>LLM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20840" y="2148840"/>
            <a:ext cx="43891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Bursty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Realistic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44040" y="5303520"/>
            <a:ext cx="8503920" cy="658368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workloads better approximate bursty production traffic</a:t>
            </a:r>
            <a:endParaRPr lang="en-US" sz="21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4489706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LLM-generated workloads better reflect real-world bursty traffic patterns compared to static distributions.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9123" y="1760220"/>
            <a:ext cx="40233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 failures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partitions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Cascading failures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0" y="1508760"/>
            <a:ext cx="4023360" cy="50292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</a:rPr>
              <a:t>LLM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1814192"/>
            <a:ext cx="420624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realistic scenarios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Adapts failures dynamically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Keeps validation deterministic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0320" y="4983480"/>
            <a:ext cx="640080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4617720"/>
            <a:ext cx="1828800" cy="73152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</a:rPr>
              <a:t>Fault trigger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4617720"/>
            <a:ext cx="1828800" cy="73152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B57"/>
                </a:solidFill>
              </a:rPr>
              <a:t>Impact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0" y="4617720"/>
            <a:ext cx="1828800" cy="73152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3A5F"/>
                </a:solidFill>
              </a:rPr>
              <a:t>Recovery</a:t>
            </a:r>
            <a:endParaRPr lang="en-US" sz="1700" dirty="0"/>
          </a:p>
        </p:txBody>
      </p:sp>
      <p:sp>
        <p:nvSpPr>
          <p:cNvPr id="14" name="TextBox 13"/>
          <p:cNvSpPr txBox="1"/>
          <p:nvPr/>
        </p:nvSpPr>
        <p:spPr>
          <a:xfrm>
            <a:off x="759123" y="3840374"/>
            <a:ext cx="9847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Adaptive failure scenarios improve evaluation of system resilience under realistic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154680" y="2240280"/>
            <a:ext cx="100584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897880" y="2240280"/>
            <a:ext cx="1005840" cy="0"/>
          </a:xfrm>
          <a:prstGeom prst="line">
            <a:avLst/>
          </a:prstGeom>
          <a:noFill/>
          <a:ln w="25400">
            <a:solidFill>
              <a:srgbClr val="A8B4C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286000" cy="100584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</a:rPr>
              <a:t>Collect logs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11880" y="1737360"/>
            <a:ext cx="2286000" cy="100584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</a:rPr>
              <a:t>Process logs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5080" y="1737360"/>
            <a:ext cx="2286000" cy="100584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</a:rPr>
              <a:t>Detect anomalies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0" y="3703320"/>
            <a:ext cx="3931920" cy="54864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LLM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97680" y="4526280"/>
            <a:ext cx="41148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 analysis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Meaningful insights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interpretation of patterns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03720" y="2788920"/>
            <a:ext cx="0" cy="77724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594360" y="596188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LLM enables semantic understanding of logs, helping identify root causes beyond simple pattern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4206240" cy="96012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Nodes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16–128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09360" y="1600200"/>
            <a:ext cx="4206240" cy="96012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GPUs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8 per node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4206240" cy="96012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Latency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0.5–10 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09360" y="3063240"/>
            <a:ext cx="4206240" cy="96012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Bandwidth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10–200 Gbps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5074920"/>
            <a:ext cx="9784080" cy="59436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static vs hybrid · seeds 7, 21, 42 · 120 ticks · target 4,200 RPS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4526280" cy="96012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Latency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Responsiveness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55080" y="1600200"/>
            <a:ext cx="4526280" cy="96012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Throughput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Work completed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526280" cy="96012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Utilization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Resource efficiency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55080" y="3246120"/>
            <a:ext cx="4526280" cy="96012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Recovery time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Fault resilience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5257800"/>
            <a:ext cx="8503920" cy="59436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measure performance, resilience, and efficiency</a:t>
            </a:r>
            <a:endParaRPr lang="en-US" sz="21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These metrics together evaluate system performance, efficiency, and resilience under varying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14</a:t>
            </a:r>
            <a:endParaRPr lang="en-US" sz="850" dirty="0"/>
          </a:p>
        </p:txBody>
      </p:sp>
      <p:pic>
        <p:nvPicPr>
          <p:cNvPr id="7" name="Image 0" descr="/mnt/data/ppt_assets/latency_vs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7233"/>
            <a:ext cx="6949440" cy="4260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896113"/>
            <a:ext cx="4191000" cy="49792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200" b="1" dirty="0"/>
              <a:t>Key Observations</a:t>
            </a:r>
            <a:endParaRPr lang="en-US" sz="2200" dirty="0"/>
          </a:p>
          <a:p>
            <a:r>
              <a:rPr lang="en-US" sz="2200" dirty="0"/>
              <a:t>Hybrid shows higher latency at small scale (~18 ms) </a:t>
            </a:r>
          </a:p>
          <a:p>
            <a:r>
              <a:rPr lang="en-US" sz="2200" dirty="0"/>
              <a:t>Latency decreases as cluster size increases </a:t>
            </a:r>
          </a:p>
          <a:p>
            <a:r>
              <a:rPr lang="en-US" sz="2200" dirty="0"/>
              <a:t>Static model maintains consistently low latency </a:t>
            </a:r>
          </a:p>
          <a:p>
            <a:endParaRPr lang="en-US" sz="2200" b="1" dirty="0"/>
          </a:p>
          <a:p>
            <a:r>
              <a:rPr lang="en-US" sz="2200" b="1" dirty="0"/>
              <a:t>Explanation</a:t>
            </a:r>
            <a:endParaRPr lang="en-US" sz="2200" dirty="0"/>
          </a:p>
          <a:p>
            <a:r>
              <a:rPr lang="en-US" sz="2200" dirty="0"/>
              <a:t>LLM inference introduces additional processing delay </a:t>
            </a:r>
          </a:p>
          <a:p>
            <a:r>
              <a:rPr lang="en-US" sz="2200" dirty="0"/>
              <a:t>At larger scale, workload distribution reduces bottlenecks </a:t>
            </a:r>
          </a:p>
          <a:p>
            <a:r>
              <a:rPr lang="en-US" sz="2200" dirty="0"/>
              <a:t>Hybrid latency stabilizes near ~3 ms 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39780" y="5875398"/>
            <a:ext cx="3566160" cy="543688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reasoning adds latency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800" y="621792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F98"/>
                </a:solidFill>
              </a:rPr>
              <a:t>Data source: benchmark_results.csv generated by scripts/run_experiments.py and scripts/plot_results.py.</a:t>
            </a:r>
            <a:endParaRPr lang="en-US" sz="82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F68A3-15E9-BB83-C0B6-788BD97E4802}"/>
              </a:ext>
            </a:extLst>
          </p:cNvPr>
          <p:cNvSpPr/>
          <p:nvPr/>
        </p:nvSpPr>
        <p:spPr>
          <a:xfrm>
            <a:off x="594360" y="6217920"/>
            <a:ext cx="4545199" cy="256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Overhead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15</a:t>
            </a:r>
            <a:endParaRPr lang="en-US" sz="850" dirty="0"/>
          </a:p>
        </p:txBody>
      </p:sp>
      <p:pic>
        <p:nvPicPr>
          <p:cNvPr id="7" name="Image 0" descr="/mnt/data/ppt_assets/llm_overhead_vs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7233"/>
            <a:ext cx="6949440" cy="4260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0999" y="896113"/>
            <a:ext cx="4106917" cy="49607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b="1" dirty="0"/>
              <a:t>Key Observations</a:t>
            </a:r>
            <a:endParaRPr lang="en-US" sz="2000" dirty="0"/>
          </a:p>
          <a:p>
            <a:r>
              <a:rPr lang="en-US" sz="2000" dirty="0"/>
              <a:t>LLM overhead ~830–850 ms </a:t>
            </a:r>
          </a:p>
          <a:p>
            <a:r>
              <a:rPr lang="en-US" sz="2000" dirty="0"/>
              <a:t>Remains constant across all cluster sizes </a:t>
            </a:r>
          </a:p>
          <a:p>
            <a:endParaRPr lang="en-US" sz="2000" dirty="0"/>
          </a:p>
          <a:p>
            <a:r>
              <a:rPr lang="en-US" sz="2000" b="1" dirty="0"/>
              <a:t>Explanation</a:t>
            </a:r>
            <a:endParaRPr lang="en-US" sz="2000" dirty="0"/>
          </a:p>
          <a:p>
            <a:r>
              <a:rPr lang="en-US" sz="2000" dirty="0"/>
              <a:t>Overhead comes from LLM reasoning steps </a:t>
            </a:r>
          </a:p>
          <a:p>
            <a:r>
              <a:rPr lang="en-US" sz="2000" dirty="0"/>
              <a:t>Independent of number of nodes</a:t>
            </a:r>
          </a:p>
          <a:p>
            <a:r>
              <a:rPr lang="en-US" sz="2000" dirty="0"/>
              <a:t> </a:t>
            </a:r>
          </a:p>
          <a:p>
            <a:r>
              <a:rPr lang="en-US" sz="2000" b="1" dirty="0"/>
              <a:t>Insight</a:t>
            </a:r>
            <a:endParaRPr lang="en-US" sz="2000" dirty="0"/>
          </a:p>
          <a:p>
            <a:r>
              <a:rPr lang="en-US" sz="2000" dirty="0"/>
              <a:t>Bounded reasoning layer ensures predictable cost </a:t>
            </a:r>
          </a:p>
          <a:p>
            <a:r>
              <a:rPr lang="en-US" sz="2000" dirty="0"/>
              <a:t>LLM used only at critical decision points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10726" y="5788152"/>
            <a:ext cx="3566160" cy="68580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vs speed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800" y="621792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F98"/>
                </a:solidFill>
              </a:rPr>
              <a:t>Data source: benchmark_results.csv generated by scripts/run_experiments.py and scripts/plot_results.py.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16</a:t>
            </a:r>
            <a:endParaRPr lang="en-US" sz="850" dirty="0"/>
          </a:p>
        </p:txBody>
      </p:sp>
      <p:pic>
        <p:nvPicPr>
          <p:cNvPr id="7" name="Image 0" descr="/mnt/data/ppt_assets/recovery_vs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3" y="1368524"/>
            <a:ext cx="6949440" cy="42581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35462" y="164592"/>
            <a:ext cx="4356538" cy="54620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2000" b="1" dirty="0"/>
              <a:t>Key Observations</a:t>
            </a:r>
            <a:endParaRPr lang="en-IN" sz="2000" dirty="0"/>
          </a:p>
          <a:p>
            <a:r>
              <a:rPr lang="en-IN" sz="2000" dirty="0"/>
              <a:t>Static recovery remains constant (~12.3 ticks) </a:t>
            </a:r>
          </a:p>
          <a:p>
            <a:r>
              <a:rPr lang="en-IN" sz="2000" dirty="0"/>
              <a:t>Hybrid improves with scale (14 → 12 ticks) </a:t>
            </a:r>
          </a:p>
          <a:p>
            <a:endParaRPr lang="en-IN" sz="2000" dirty="0"/>
          </a:p>
          <a:p>
            <a:r>
              <a:rPr lang="en-IN" sz="2000" b="1" dirty="0"/>
              <a:t>Explanation</a:t>
            </a:r>
            <a:endParaRPr lang="en-IN" sz="2000" dirty="0"/>
          </a:p>
          <a:p>
            <a:r>
              <a:rPr lang="en-IN" sz="2000" dirty="0"/>
              <a:t>LLM enables adaptive failure handling </a:t>
            </a:r>
          </a:p>
          <a:p>
            <a:r>
              <a:rPr lang="en-IN" sz="2000" dirty="0"/>
              <a:t>Better decision-making improves recovery efficiency </a:t>
            </a:r>
          </a:p>
          <a:p>
            <a:endParaRPr lang="en-IN" sz="2000" dirty="0"/>
          </a:p>
          <a:p>
            <a:r>
              <a:rPr lang="en-IN" sz="2000" b="1" dirty="0"/>
              <a:t>Insight</a:t>
            </a:r>
            <a:endParaRPr lang="en-IN" sz="2000" dirty="0"/>
          </a:p>
          <a:p>
            <a:r>
              <a:rPr lang="en-IN" sz="2000" dirty="0"/>
              <a:t>Hybrid system becomes more resilient at scale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76719" y="5802341"/>
            <a:ext cx="3566160" cy="68580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improves under adaptive scenarios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800" y="621792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F98"/>
                </a:solidFill>
              </a:rPr>
              <a:t>Data source: benchmark_results.csv generated by scripts/run_experiments.py and scripts/plot_results.py.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17</a:t>
            </a:r>
            <a:endParaRPr lang="en-US" sz="850" dirty="0"/>
          </a:p>
        </p:txBody>
      </p:sp>
      <p:pic>
        <p:nvPicPr>
          <p:cNvPr id="7" name="Image 0" descr="/mnt/data/ppt_assets/throughput_vs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8524"/>
            <a:ext cx="6949440" cy="42581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320040"/>
            <a:ext cx="4511040" cy="5367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2000" b="1" dirty="0"/>
              <a:t>Key Observations</a:t>
            </a:r>
            <a:endParaRPr lang="en-IN" sz="2000" dirty="0"/>
          </a:p>
          <a:p>
            <a:r>
              <a:rPr lang="en-IN" sz="2000" dirty="0"/>
              <a:t>Hybrid achieves higher throughput (~4000 RPS) </a:t>
            </a:r>
          </a:p>
          <a:p>
            <a:r>
              <a:rPr lang="en-IN" sz="2000" dirty="0"/>
              <a:t>Static plateaus around ~2950 RPS </a:t>
            </a:r>
          </a:p>
          <a:p>
            <a:endParaRPr lang="en-IN" sz="2000" dirty="0"/>
          </a:p>
          <a:p>
            <a:r>
              <a:rPr lang="en-IN" sz="2000" b="1" dirty="0"/>
              <a:t>Explanation</a:t>
            </a:r>
            <a:endParaRPr lang="en-IN" sz="2000" dirty="0"/>
          </a:p>
          <a:p>
            <a:r>
              <a:rPr lang="en-IN" sz="2000" dirty="0"/>
              <a:t>LLM generates bursty, realistic workloads </a:t>
            </a:r>
          </a:p>
          <a:p>
            <a:r>
              <a:rPr lang="en-IN" sz="2000" dirty="0"/>
              <a:t>Better workload patterns improve system efficiency </a:t>
            </a:r>
          </a:p>
          <a:p>
            <a:endParaRPr lang="en-IN" sz="2000" dirty="0"/>
          </a:p>
          <a:p>
            <a:r>
              <a:rPr lang="en-IN" sz="2000" b="1" dirty="0"/>
              <a:t>Insight</a:t>
            </a:r>
            <a:endParaRPr lang="en-IN" sz="2000" dirty="0"/>
          </a:p>
          <a:p>
            <a:r>
              <a:rPr lang="en-IN" sz="2000" dirty="0"/>
              <a:t>Hybrid approach scales more effectively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68836" y="5742432"/>
            <a:ext cx="3566160" cy="68580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workload improves useful work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800" y="621792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F98"/>
                </a:solidFill>
              </a:rPr>
              <a:t>Data source: benchmark_results.csv generated by scripts/run_experiments.py and scripts/plot_results.py.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7923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18</a:t>
            </a:r>
            <a:endParaRPr lang="en-US" sz="850" dirty="0"/>
          </a:p>
        </p:txBody>
      </p:sp>
      <p:pic>
        <p:nvPicPr>
          <p:cNvPr id="7" name="Image 0" descr="/mnt/data/ppt_assets/utilization_vs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8524"/>
            <a:ext cx="6949440" cy="42581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"/>
            <a:ext cx="4191000" cy="56944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b="1" dirty="0"/>
              <a:t>Key Observations</a:t>
            </a:r>
            <a:endParaRPr lang="en-US" sz="2000" dirty="0"/>
          </a:p>
          <a:p>
            <a:r>
              <a:rPr lang="en-US" sz="2000" dirty="0"/>
              <a:t>Utilization decreases as cluster size increases </a:t>
            </a:r>
          </a:p>
          <a:p>
            <a:r>
              <a:rPr lang="en-US" sz="2000" dirty="0"/>
              <a:t>Hybrid consistently higher than static</a:t>
            </a:r>
          </a:p>
          <a:p>
            <a:r>
              <a:rPr lang="en-US" sz="2000" dirty="0"/>
              <a:t> </a:t>
            </a:r>
          </a:p>
          <a:p>
            <a:r>
              <a:rPr lang="en-US" sz="2000" b="1" dirty="0"/>
              <a:t>Explanation</a:t>
            </a:r>
            <a:endParaRPr lang="en-US" sz="2000" dirty="0"/>
          </a:p>
          <a:p>
            <a:r>
              <a:rPr lang="en-US" sz="2000" dirty="0"/>
              <a:t>Larger clusters lead to underutilization </a:t>
            </a:r>
          </a:p>
          <a:p>
            <a:r>
              <a:rPr lang="en-US" sz="2000" dirty="0"/>
              <a:t>LLM workload increases system pressure </a:t>
            </a:r>
          </a:p>
          <a:p>
            <a:endParaRPr lang="en-US" sz="2000" dirty="0"/>
          </a:p>
          <a:p>
            <a:r>
              <a:rPr lang="en-US" sz="2000" b="1" dirty="0"/>
              <a:t>Insight</a:t>
            </a:r>
            <a:endParaRPr lang="en-US" sz="2000" dirty="0"/>
          </a:p>
          <a:p>
            <a:r>
              <a:rPr lang="en-US" sz="2000" dirty="0"/>
              <a:t>Hybrid improves resource efficiency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197891" y="5694427"/>
            <a:ext cx="3566160" cy="68580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scheduling pressure uses more capacity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5800" y="6217920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8F98"/>
                </a:solidFill>
              </a:rPr>
              <a:t>Data source: benchmark_results.csv generated by scripts/run_experiments.py and scripts/plot_results.py.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20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596431"/>
            <a:ext cx="5564900" cy="58775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augments simulation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design improves control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simulation improves realism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 overhead exists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high-level reasoning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720840" y="1828800"/>
            <a:ext cx="4846320" cy="2881224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</a:rPr>
              <a:t>Bounded reasoning layer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E8B57"/>
                </a:solidFill>
              </a:rPr>
              <a:t>Use LLM for planning + interpretation, not low-level numerical execution.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21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4663440" cy="548640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A5F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2111745"/>
            <a:ext cx="4389120" cy="25054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latency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compute cost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requirements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0" y="1325880"/>
            <a:ext cx="4663440" cy="548640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</a:rPr>
              <a:t>Future Work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19"/>
            <a:ext cx="4480560" cy="28803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 integration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Real-world workloads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LLM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LLM models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508760" y="5541264"/>
            <a:ext cx="9326880" cy="566928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simulation-backed evaluation toward production-grade AI-assisted systems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828800" cy="0"/>
          </a:xfrm>
          <a:prstGeom prst="line">
            <a:avLst/>
          </a:prstGeom>
          <a:noFill/>
          <a:ln w="508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65288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F87"/>
                </a:solidFill>
              </a:rPr>
              <a:t>Team 14 · LLM Study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528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F87"/>
                </a:solidFill>
              </a:rPr>
              <a:t>22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59" y="1335024"/>
            <a:ext cx="5331987" cy="1746502"/>
          </a:xfrm>
          <a:prstGeom prst="roundRect">
            <a:avLst/>
          </a:prstGeom>
          <a:solidFill>
            <a:srgbClr val="F3F7FA"/>
          </a:solidFill>
          <a:ln w="13970">
            <a:solidFill>
              <a:srgbClr val="D8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endParaRPr lang="en-US" sz="2000" b="1" dirty="0"/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What We Built</a:t>
            </a:r>
            <a:endParaRPr lang="en-US" sz="2000" dirty="0">
              <a:solidFill>
                <a:schemeClr val="accent1"/>
              </a:solidFill>
            </a:endParaRPr>
          </a:p>
          <a:p>
            <a:r>
              <a:rPr lang="en-US" sz="2000" dirty="0"/>
              <a:t>Hybrid distributed system simulator </a:t>
            </a:r>
          </a:p>
          <a:p>
            <a:r>
              <a:rPr lang="en-US" sz="2000" dirty="0"/>
              <a:t>Combines deterministic execution + LLM reasoning</a:t>
            </a:r>
          </a:p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374921" y="1444752"/>
            <a:ext cx="4689319" cy="1636774"/>
          </a:xfrm>
          <a:prstGeom prst="roundRect">
            <a:avLst/>
          </a:prstGeom>
          <a:solidFill>
            <a:srgbClr val="EAF6EF"/>
          </a:solidFill>
          <a:ln w="13970">
            <a:solidFill>
              <a:srgbClr val="CFEAD8"/>
            </a:solidFill>
          </a:ln>
        </p:spPr>
        <p:txBody>
          <a:bodyPr wrap="square" lIns="1524" tIns="1524" rIns="1524" bIns="1524" rtlCol="0" anchor="ctr">
            <a:normAutofit fontScale="70000" lnSpcReduction="20000"/>
          </a:bodyPr>
          <a:lstStyle/>
          <a:p>
            <a:pPr algn="ctr"/>
            <a:endParaRPr lang="en-US" sz="2800" b="1" dirty="0">
              <a:solidFill>
                <a:schemeClr val="accent1"/>
              </a:solidFill>
            </a:endParaRPr>
          </a:p>
          <a:p>
            <a:pPr algn="ctr"/>
            <a:r>
              <a:rPr lang="en-US" sz="3000" b="1" dirty="0">
                <a:solidFill>
                  <a:schemeClr val="accent1"/>
                </a:solidFill>
              </a:rPr>
              <a:t>Key Results</a:t>
            </a:r>
          </a:p>
          <a:p>
            <a:endParaRPr lang="en-US" sz="2800" dirty="0"/>
          </a:p>
          <a:p>
            <a:r>
              <a:rPr lang="en-US" sz="2800" dirty="0"/>
              <a:t>Better throughput, utilization, and recovery </a:t>
            </a:r>
          </a:p>
          <a:p>
            <a:r>
              <a:rPr lang="en-US" sz="2800" dirty="0"/>
              <a:t>Trade-off: increased latency</a:t>
            </a:r>
          </a:p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76400" y="3700732"/>
            <a:ext cx="3291840" cy="685800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latency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09360" y="3808478"/>
            <a:ext cx="4754880" cy="685800"/>
          </a:xfrm>
          <a:prstGeom prst="roundRect">
            <a:avLst/>
          </a:prstGeom>
          <a:solidFill>
            <a:srgbClr val="F6FBF8"/>
          </a:solidFill>
          <a:ln>
            <a:solidFill>
              <a:srgbClr val="F6FBF8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works best as a controlled reasoning layer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55778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A5F"/>
                </a:solidFill>
              </a:rPr>
              <a:t>LLM-Powered Distributed System Simulator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782B19-E9B7-1BA7-DD5F-8F258B732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76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1141</Words>
  <Application>Microsoft Office PowerPoint</Application>
  <PresentationFormat>Widescreen</PresentationFormat>
  <Paragraphs>325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CSULB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LLM-Powered Distributed System Simulator</dc:title>
  <dc:subject>LLM-Powered Distributed System Simulator</dc:subject>
  <dc:creator>Team 14</dc:creator>
  <cp:lastModifiedBy>mauli pandya</cp:lastModifiedBy>
  <cp:revision>36</cp:revision>
  <dcterms:created xsi:type="dcterms:W3CDTF">2026-04-26T22:08:57Z</dcterms:created>
  <dcterms:modified xsi:type="dcterms:W3CDTF">2026-04-26T23:37:10Z</dcterms:modified>
</cp:coreProperties>
</file>